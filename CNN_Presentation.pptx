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An Explainable CNN-Based Framework for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9E75"/>
                </a:solidFill>
              </a:rPr>
              <a:t>Handwritten English Alphabet Recognition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C8BE"/>
                </a:solidFill>
              </a:rPr>
              <a:t>Comparing Custom CNN and Transfer Learning with Grad-CAM and SHAP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514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Custom CNN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03120" y="251460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2514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34AB7"/>
                </a:solidFill>
              </a:rPr>
              <a:t>MobileNetV2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0" y="251460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514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5A30"/>
                </a:solidFill>
              </a:rPr>
              <a:t>Grad-CAM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77840" y="251460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514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7517"/>
                </a:solidFill>
              </a:rPr>
              <a:t>SHAP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0" y="251460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2514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</a:rPr>
              <a:t>26 Classes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0175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C8BE"/>
                </a:solidFill>
              </a:rPr>
              <a:t>Wai Yan Tun
</a:t>
            </a:r>
            <a:pPr algn="l" indent="0" marL="0">
              <a:buNone/>
            </a:pPr>
            <a:r>
              <a:rPr lang="en-US" sz="1200" dirty="0">
                <a:solidFill>
                  <a:srgbClr val="A8C8BE"/>
                </a:solidFill>
              </a:rPr>
              <a:t>University of Europe for Applied Sciences
</a:t>
            </a:r>
            <a:pPr algn="l" indent="0" marL="0">
              <a:buNone/>
            </a:pPr>
            <a:r>
              <a:rPr lang="en-US" sz="1200" dirty="0">
                <a:solidFill>
                  <a:srgbClr val="A8C8BE"/>
                </a:solidFill>
              </a:rPr>
              <a:t>Machine Learning 120A — Prof. Raja Hashim Ali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8A7E"/>
                </a:solidFill>
              </a:rPr>
              <a:t>372,451 images  ·  A–Z dataset  ·  28×28 grayscale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</a:rPr>
              <a:t>Why Does This Problem Matter?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47472" cy="347472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12344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Prescription errors </a:t>
            </a:r>
            <a:pPr indent="0" marL="0">
              <a:buNone/>
            </a:pPr>
            <a:r>
              <a:rPr lang="en-US" sz="1100" dirty="0">
                <a:solidFill>
                  <a:srgbClr val="6B7C8D"/>
                </a:solidFill>
              </a:rPr>
              <a:t>Illegible handwriting causes wrong medicine or dose to be dispensed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92808"/>
            <a:ext cx="347472" cy="347472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18928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Document digitisation </a:t>
            </a:r>
            <a:pPr indent="0" marL="0">
              <a:buNone/>
            </a:pPr>
            <a:r>
              <a:rPr lang="en-US" sz="1100" dirty="0">
                <a:solidFill>
                  <a:srgbClr val="6B7C8D"/>
                </a:solidFill>
              </a:rPr>
              <a:t>Millions of paper records need reliable automated text reading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51176"/>
            <a:ext cx="347472" cy="347472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51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♿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25511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Assistive technology </a:t>
            </a:r>
            <a:pPr indent="0" marL="0">
              <a:buNone/>
            </a:pPr>
            <a:r>
              <a:rPr lang="en-US" sz="1100" dirty="0">
                <a:solidFill>
                  <a:srgbClr val="6B7C8D"/>
                </a:solidFill>
              </a:rPr>
              <a:t>People with disabilities need accurate character recognition tools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09544"/>
            <a:ext cx="347472" cy="347472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32095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OCR foundation </a:t>
            </a:r>
            <a:pPr indent="0" marL="0">
              <a:buNone/>
            </a:pPr>
            <a:r>
              <a:rPr lang="en-US" sz="1100" dirty="0">
                <a:solidFill>
                  <a:srgbClr val="6B7C8D"/>
                </a:solidFill>
              </a:rPr>
              <a:t>Single-letter recognition is the core building block of any OCR system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914400"/>
            <a:ext cx="3749040" cy="3474720"/>
          </a:xfrm>
          <a:prstGeom prst="roundRect">
            <a:avLst>
              <a:gd name="adj" fmla="val 3158"/>
            </a:avLst>
          </a:prstGeom>
          <a:solidFill>
            <a:srgbClr val="F2F4F7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</a:rPr>
              <a:t>Key Challenges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1508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• 26 visually similar capital letters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19385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• O and D share closed-loop shapes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236829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• W and N share diagonal strokes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279806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• 51.6:1 class imbalance ratio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32278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• Only 1,120 images for class 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• 28×28 pixel resolution limits detail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DATASET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</a:rPr>
              <a:t>A–Z Handwritten Alphabets Dataset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8E6F7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9E75"/>
                </a:solidFill>
              </a:rPr>
              <a:t>372,451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8105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D"/>
                </a:solidFill>
              </a:rPr>
              <a:t>Total images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1887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8E6F7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2618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9E75"/>
                </a:solidFill>
              </a:rPr>
              <a:t>26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23160" y="18105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D"/>
                </a:solidFill>
              </a:rPr>
              <a:t>Letter classes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11887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8E6F7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2618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9E75"/>
                </a:solidFill>
              </a:rPr>
              <a:t>28×28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480560" y="18105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D"/>
                </a:solidFill>
              </a:rPr>
              <a:t>Pixels (grayscale)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37960" y="11887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8E6F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2618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85A30"/>
                </a:solidFill>
              </a:rPr>
              <a:t>51.6:1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537960" y="18105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D"/>
                </a:solidFill>
              </a:rPr>
              <a:t>Imbalance ratio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42316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EAF5F1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14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</a:rPr>
              <a:t>CSV Format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28346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• 785 columns per row
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• Column 0: class label (0=A … 25=Z)
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• Columns 1–784: flattened pixel values
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• Pixel range: 0–255 (uint8)
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• No header row, ~290 MB file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4231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BF0EC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514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</a:rPr>
              <a:t>Class Imbalance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8346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• Most frequent:  O = 57,825 images
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• Least frequent:  I = 1,120 images
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• 51.6× more O images than I images
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• Fixed by:  stratified splits +
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  augmentation + class-weighted loss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D"/>
                </a:solidFill>
              </a:rPr>
              <a:t>Kaggle: kaggle.com/datasets/sachinpatel21/az-handwritten-alphabets-in-csv-format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RESEARCH QUESTIONS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</a:rPr>
              <a:t>Five Research Questions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EAF4E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640080" cy="658368"/>
          </a:xfrm>
          <a:prstGeom prst="roundRect">
            <a:avLst>
              <a:gd name="adj" fmla="val 1142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2435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Overall accuracy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517904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Can a compact custom CNN achieve high accuracy on 26-class handwritten letter recognition?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93852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EAF4E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38528"/>
            <a:ext cx="640080" cy="658368"/>
          </a:xfrm>
          <a:prstGeom prst="roundRect">
            <a:avLst>
              <a:gd name="adj" fmla="val 11429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3852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Confusion pairs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26771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Which letter pairs are most often confused, and can visual similarity explain the errors?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688336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EAF4E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688336"/>
            <a:ext cx="640080" cy="658368"/>
          </a:xfrm>
          <a:prstGeom prst="roundRect">
            <a:avLst>
              <a:gd name="adj" fmla="val 11429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68833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RQ3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</a:rPr>
              <a:t>Class imbalance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301752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Does the 51.6:1 imbalance reduce recall on minority classes, and does class weighting fix it?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438144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EAF4E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438144"/>
            <a:ext cx="640080" cy="658368"/>
          </a:xfrm>
          <a:prstGeom prst="roundRect">
            <a:avLst>
              <a:gd name="adj" fmla="val 11429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3814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RQ4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3493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</a:rPr>
              <a:t>Transfer learning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3767328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Does MobileNetV2 outperform the custom CNN on this small grayscale dataset?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187952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EAF4E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187952"/>
            <a:ext cx="640080" cy="658368"/>
          </a:xfrm>
          <a:prstGeom prst="roundRect">
            <a:avLst>
              <a:gd name="adj" fmla="val 11429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18795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RQ5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42428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D11"/>
                </a:solidFill>
              </a:rPr>
              <a:t>Explainability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" y="4517136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Do Grad-CAM and SHAP confirm the model focuses on letter strokes rather than background?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METHODOLOGY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</a:rPr>
              <a:t>Experimental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E0EEF8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097280"/>
            <a:ext cx="438912" cy="43891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53619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Dataset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372K imgs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83080" y="160020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D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93392" y="118872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E0EEF8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23744" y="1097280"/>
            <a:ext cx="438912" cy="43891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93392" y="153619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Preprocess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Augment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02152" y="160020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D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12464" y="118872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E0EEF8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42816" y="1097280"/>
            <a:ext cx="438912" cy="43891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42816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12464" y="153619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34AB7"/>
                </a:solidFill>
              </a:rPr>
              <a:t>Custom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34AB7"/>
                </a:solidFill>
              </a:rPr>
              <a:t>CNN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21224" y="160020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D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31536" y="118872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E0EEF8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61888" y="1097280"/>
            <a:ext cx="438912" cy="43891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1888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31536" y="153619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34AB7"/>
                </a:solidFill>
              </a:rPr>
              <a:t>MobileNetV2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34AB7"/>
                </a:solidFill>
              </a:rPr>
              <a:t>TL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40296" y="160020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D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150608" y="118872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E0EEF8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0" y="1097280"/>
            <a:ext cx="438912" cy="438912"/>
          </a:xfrm>
          <a:prstGeom prst="ellipse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50608" y="153619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D4A"/>
                </a:solidFill>
              </a:rPr>
              <a:t>Train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2D4A"/>
                </a:solidFill>
              </a:rPr>
              <a:t>Callbacks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2104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C8D"/>
                </a:solidFill>
              </a:rPr>
              <a:t>↙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712464" y="278892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E0EEF8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42816" y="2697480"/>
            <a:ext cx="438912" cy="43891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42816" y="2697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12464" y="313639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7517"/>
                </a:solidFill>
              </a:rPr>
              <a:t>Evaluate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BA7517"/>
                </a:solidFill>
              </a:rPr>
              <a:t>Metrics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11296" y="32918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D"/>
                </a:solidFill>
              </a:rPr>
              <a:t>←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993392" y="278892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E0EEF8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23744" y="2697480"/>
            <a:ext cx="438912" cy="438912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23744" y="2697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993392" y="313639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5A30"/>
                </a:solidFill>
              </a:rPr>
              <a:t>Grad-CAM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85A30"/>
                </a:solidFill>
              </a:rPr>
              <a:t>+ SHAP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792224" y="32918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D"/>
                </a:solidFill>
              </a:rPr>
              <a:t>←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74320" y="278892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E0EEF8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4672" y="2697480"/>
            <a:ext cx="438912" cy="43891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" y="2697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74320" y="313639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</a:rPr>
              <a:t>Results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</a:rPr>
              <a:t>99.08%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C8D"/>
                </a:solidFill>
              </a:rPr>
              <a:t>Kaggle GPU · Python 3.12 · TensorFlow / Keras 3 · scikit-learn · SHAP 0.45 · Seed 42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CNN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</a:rPr>
              <a:t>Custom CNN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64592" y="1143000"/>
            <a:ext cx="749808" cy="822960"/>
          </a:xfrm>
          <a:prstGeom prst="roundRect">
            <a:avLst>
              <a:gd name="adj" fmla="val 8537"/>
            </a:avLst>
          </a:prstGeom>
          <a:solidFill>
            <a:srgbClr val="E8E6F7"/>
          </a:solidFill>
          <a:ln w="12700">
            <a:solidFill>
              <a:srgbClr val="6B7C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143000"/>
            <a:ext cx="749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C8D"/>
                </a:solidFill>
              </a:rPr>
              <a:t>Input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6B7C8D"/>
                </a:solidFill>
              </a:rPr>
              <a:t>28×28×1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D"/>
                </a:solidFill>
              </a:rPr>
              <a:t>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51560" y="1143000"/>
            <a:ext cx="749808" cy="822960"/>
          </a:xfrm>
          <a:prstGeom prst="roundRect">
            <a:avLst>
              <a:gd name="adj" fmla="val 8537"/>
            </a:avLst>
          </a:prstGeom>
          <a:solidFill>
            <a:srgbClr val="E8E6F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143000"/>
            <a:ext cx="749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34AB7"/>
                </a:solidFill>
              </a:rPr>
              <a:t>Conv2D-32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34AB7"/>
                </a:solidFill>
              </a:rPr>
              <a:t>ReLU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01368" y="14630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D"/>
                </a:solidFill>
              </a:rPr>
              <a:t>→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38528" y="1143000"/>
            <a:ext cx="749808" cy="822960"/>
          </a:xfrm>
          <a:prstGeom prst="roundRect">
            <a:avLst>
              <a:gd name="adj" fmla="val 8537"/>
            </a:avLst>
          </a:prstGeom>
          <a:solidFill>
            <a:srgbClr val="E8E6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38528" y="1143000"/>
            <a:ext cx="749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MaxPool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2×2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88336" y="14630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D"/>
                </a:solidFill>
              </a:rPr>
              <a:t>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25496" y="1143000"/>
            <a:ext cx="749808" cy="822960"/>
          </a:xfrm>
          <a:prstGeom prst="roundRect">
            <a:avLst>
              <a:gd name="adj" fmla="val 8537"/>
            </a:avLst>
          </a:prstGeom>
          <a:solidFill>
            <a:srgbClr val="E8E6F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25496" y="1143000"/>
            <a:ext cx="749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34AB7"/>
                </a:solidFill>
              </a:rPr>
              <a:t>Conv2D-64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34AB7"/>
                </a:solidFill>
              </a:rPr>
              <a:t>ReLU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75304" y="14630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D"/>
                </a:solidFill>
              </a:rPr>
              <a:t>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12464" y="1143000"/>
            <a:ext cx="749808" cy="822960"/>
          </a:xfrm>
          <a:prstGeom prst="roundRect">
            <a:avLst>
              <a:gd name="adj" fmla="val 8537"/>
            </a:avLst>
          </a:prstGeom>
          <a:solidFill>
            <a:srgbClr val="E8E6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1143000"/>
            <a:ext cx="749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MaxPool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2×2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462272" y="14630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D"/>
                </a:solidFill>
              </a:rPr>
              <a:t>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99432" y="1143000"/>
            <a:ext cx="749808" cy="822960"/>
          </a:xfrm>
          <a:prstGeom prst="roundRect">
            <a:avLst>
              <a:gd name="adj" fmla="val 8537"/>
            </a:avLst>
          </a:prstGeom>
          <a:solidFill>
            <a:srgbClr val="E8E6F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1143000"/>
            <a:ext cx="749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34AB7"/>
                </a:solidFill>
              </a:rPr>
              <a:t>Conv2D-128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34AB7"/>
                </a:solidFill>
              </a:rPr>
              <a:t>ReLU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49240" y="14630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D"/>
                </a:solidFill>
              </a:rPr>
              <a:t>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1143000"/>
            <a:ext cx="749808" cy="822960"/>
          </a:xfrm>
          <a:prstGeom prst="roundRect">
            <a:avLst>
              <a:gd name="adj" fmla="val 8537"/>
            </a:avLst>
          </a:prstGeom>
          <a:solidFill>
            <a:srgbClr val="E8E6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1143000"/>
            <a:ext cx="749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MaxPool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2×2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36208" y="14630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D"/>
                </a:solidFill>
              </a:rPr>
              <a:t>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73368" y="1143000"/>
            <a:ext cx="749808" cy="822960"/>
          </a:xfrm>
          <a:prstGeom prst="roundRect">
            <a:avLst>
              <a:gd name="adj" fmla="val 8537"/>
            </a:avLst>
          </a:prstGeom>
          <a:solidFill>
            <a:srgbClr val="E8E6F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1143000"/>
            <a:ext cx="749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A7517"/>
                </a:solidFill>
              </a:rPr>
              <a:t>Dropout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BA7517"/>
                </a:solidFill>
              </a:rPr>
              <a:t>0.4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23176" y="14630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D"/>
                </a:solidFill>
              </a:rPr>
              <a:t>→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60336" y="1143000"/>
            <a:ext cx="749808" cy="822960"/>
          </a:xfrm>
          <a:prstGeom prst="roundRect">
            <a:avLst>
              <a:gd name="adj" fmla="val 8537"/>
            </a:avLst>
          </a:prstGeom>
          <a:solidFill>
            <a:srgbClr val="E8E6F7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0336" y="1143000"/>
            <a:ext cx="749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Dense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256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010144" y="14630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D"/>
                </a:solidFill>
              </a:rPr>
              <a:t>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47304" y="1143000"/>
            <a:ext cx="749808" cy="822960"/>
          </a:xfrm>
          <a:prstGeom prst="roundRect">
            <a:avLst>
              <a:gd name="adj" fmla="val 8537"/>
            </a:avLst>
          </a:prstGeom>
          <a:solidFill>
            <a:srgbClr val="E8E6F7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7304" y="1143000"/>
            <a:ext cx="749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6D11"/>
                </a:solidFill>
              </a:rPr>
              <a:t>Softmax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3B6D11"/>
                </a:solidFill>
              </a:rPr>
              <a:t>26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23317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8E6F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4048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34AB7"/>
                </a:solidFill>
              </a:rPr>
              <a:t>394,522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365760" y="29535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D"/>
                </a:solidFill>
              </a:rPr>
              <a:t>Trainable parameters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468880" y="23317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8E6F7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68880" y="24048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9E75"/>
                </a:solidFill>
              </a:rPr>
              <a:t>&lt; 5 MB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2468880" y="29535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D"/>
                </a:solidFill>
              </a:rPr>
              <a:t>Model file size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23317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8E6F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24048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A7517"/>
                </a:solidFill>
              </a:rPr>
              <a:t>0.4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4572000" y="29535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D"/>
                </a:solidFill>
              </a:rPr>
              <a:t>Dropout rate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675120" y="23317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8E6F7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0" y="24048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D4A"/>
                </a:solidFill>
              </a:rPr>
              <a:t>Adam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6675120" y="29535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D"/>
                </a:solidFill>
              </a:rPr>
              <a:t>Optimiser lr=1e-3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352044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2F4F7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D4A"/>
                </a:solidFill>
              </a:rPr>
              <a:t>Training Setup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48640" y="39776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• Batch size: 128  ·  Max 20 epochs  ·  Seed 42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" y="41788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• EarlyStopping (patience 3)  ·  ReduceLROnPlateau (factor 0.5)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" y="437997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• ModelCheckpoint (best val loss)  ·  Balanced class weights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8640" y="4581144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• Augmentation: rotation ±11°  ·  translation ±10%  ·  zoom ±10%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3C"/>
                </a:solidFill>
              </a:rPr>
              <a:t>MobileNetV2 Transfer Learning vs Custom CNN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EEEDF9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34AB7"/>
                </a:solidFill>
              </a:rPr>
              <a:t>Custom CNN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Built from scratch — no pre-training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3× Conv2D + MaxPool blocks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Dropout 0.4 + Dense 256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394,522 parameters (&lt;5 MB)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Trained up to 20 epochs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Input: 28×28×1 grayscale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✓ Test accuracy: 99.08%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9319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✓ Macro F1: 98.80%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✓ AUC: 1.000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114300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BF0EC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5A30"/>
                </a:solidFill>
              </a:rPr>
              <a:t>MobileNetV2 (Transfer)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16916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Pre-trained on ImageNet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2011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Stage 1: freeze base, train head (5 ep)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23317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Stage 2: unfreeze top 30 layers (3 ep)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~3.4M parameters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0" y="2971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Input: 32×32×3 pseudo-RGB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32918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Domain mismatch: colour ≠ grayscale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3611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5A30"/>
                </a:solidFill>
              </a:rPr>
              <a:t>✗ Test accuracy: 19.59%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37760" y="39319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5A30"/>
                </a:solidFill>
              </a:rPr>
              <a:t>✗ Macro F1: 11.16%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4251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5A30"/>
                </a:solidFill>
              </a:rPr>
              <a:t>✗ Transfer learning FAILS here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MAIN 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Numerical Results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</a:rPr>
              <a:t>Custom CNN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E8E6F7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99.08%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8BE"/>
                </a:solidFill>
              </a:rPr>
              <a:t>Test Accuracy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150876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E8E6F7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5544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98.80%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21488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8BE"/>
                </a:solidFill>
              </a:rPr>
              <a:t>Macro F1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0" y="150876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E8E6F7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5544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1.000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0" y="21488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8BE"/>
                </a:solidFill>
              </a:rPr>
              <a:t>Macro AUC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651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</a:rPr>
              <a:t>MobileNetV2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4663440" cy="640080"/>
          </a:xfrm>
          <a:prstGeom prst="roundRect">
            <a:avLst>
              <a:gd name="adj" fmla="val 14286"/>
            </a:avLst>
          </a:prstGeom>
          <a:solidFill>
            <a:srgbClr val="F7E1D8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718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5A30"/>
                </a:solidFill>
              </a:rPr>
              <a:t>19.59% accuracy  ·  11.16% macro F1  ·  Domain mismatch prevents benefit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0" y="118872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E8EEF5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280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7517"/>
                </a:solidFill>
              </a:rPr>
              <a:t>Minority Class Recall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16916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  (1,163 imgs)  →  0.994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   (1,120 imgs)  →  0.976
</a:t>
            </a:r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</a:rPr>
              <a:t>Class weighting works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</a:rPr>
              <a:t>despite 51.6:1 imbalance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3200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Top confused pairs: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3520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BE"/>
                </a:solidFill>
              </a:rPr>
              <a:t>O→D (64)  ·  D→O (32)  ·  O→Q (25)  ·  W↔N (13)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FIGURES &amp; TABLES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</a:rPr>
              <a:t>Important Figures and Tables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E8E6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640080" cy="777240"/>
          </a:xfrm>
          <a:prstGeom prst="roundRect">
            <a:avLst>
              <a:gd name="adj" fmla="val 1142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Fig 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" y="123444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</a:rPr>
              <a:t>Class distribution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150876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D"/>
                </a:solidFill>
              </a:rPr>
              <a:t>Bar chart showing 51.6:1 imbalance between O (57,825) and I (1,120)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E8E6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188720"/>
            <a:ext cx="640080" cy="777240"/>
          </a:xfrm>
          <a:prstGeom prst="roundRect">
            <a:avLst>
              <a:gd name="adj" fmla="val 11429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18872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Fig 7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0" y="123444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</a:rPr>
              <a:t>Training curves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0" y="150876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D"/>
                </a:solidFill>
              </a:rPr>
              <a:t>Accuracy and loss curves — no overfitting, converged in &lt;20 epochs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084832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E8E6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084832"/>
            <a:ext cx="640080" cy="777240"/>
          </a:xfrm>
          <a:prstGeom prst="roundRect">
            <a:avLst>
              <a:gd name="adj" fmla="val 11429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084832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Table 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97280" y="213055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</a:rPr>
              <a:t>Model comparison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24048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D"/>
                </a:solidFill>
              </a:rPr>
              <a:t>CNN 99.08% vs MobileNetV2 19.59% on accuracy, macro F1, weighted F1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2084832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E8E6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084832"/>
            <a:ext cx="640080" cy="777240"/>
          </a:xfrm>
          <a:prstGeom prst="roundRect">
            <a:avLst>
              <a:gd name="adj" fmla="val 11429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084832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Table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0" y="213055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</a:rPr>
              <a:t>Per-class report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0" y="24048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D"/>
                </a:solidFill>
              </a:rPr>
              <a:t>All 26 letters achieve F1 &gt; 0.96; lowest is D at 0.960 due to O/D confusion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980944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E8E6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980944"/>
            <a:ext cx="640080" cy="777240"/>
          </a:xfrm>
          <a:prstGeom prst="roundRect">
            <a:avLst>
              <a:gd name="adj" fmla="val 11429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980944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Fig 9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97280" y="302666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</a:rPr>
              <a:t>Confusion matrix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" y="33009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D"/>
                </a:solidFill>
              </a:rPr>
              <a:t>Strong diagonal with only O→D and O→Q as visible off-diagonal entries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980944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E8E6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980944"/>
            <a:ext cx="640080" cy="777240"/>
          </a:xfrm>
          <a:prstGeom prst="roundRect">
            <a:avLst>
              <a:gd name="adj" fmla="val 11429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980944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Fig 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0" y="302666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</a:rPr>
              <a:t>Grad-CAM overlays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0" y="33009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D"/>
                </a:solidFill>
              </a:rPr>
              <a:t>Crossbar of A, horizontal strokes of E, tail of Q, leg of R — all correct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877056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E8E6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877056"/>
            <a:ext cx="640080" cy="777240"/>
          </a:xfrm>
          <a:prstGeom prst="roundRect">
            <a:avLst>
              <a:gd name="adj" fmla="val 11429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877056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Fig 12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97280" y="392277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</a:rPr>
              <a:t>SHAP attribution maps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97280" y="419709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D"/>
                </a:solidFill>
              </a:rPr>
              <a:t>Positive (red) on ink strokes, negative (blue) on white background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877056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E8E6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3877056"/>
            <a:ext cx="640080" cy="777240"/>
          </a:xfrm>
          <a:prstGeom prst="roundRect">
            <a:avLst>
              <a:gd name="adj" fmla="val 11429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877056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Fig 14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86400" y="392277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</a:rPr>
              <a:t>SHAP correct vs wrong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0" y="419709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D"/>
                </a:solidFill>
              </a:rPr>
              <a:t>O→O: circular loop attribution. O→D: shifts to vertical right edge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EXPLAINABILITY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</a:rPr>
              <a:t>Grad-CAM and SHAP Analysis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2011680"/>
          </a:xfrm>
          <a:prstGeom prst="roundRect">
            <a:avLst>
              <a:gd name="adj" fmla="val 5455"/>
            </a:avLst>
          </a:prstGeom>
          <a:solidFill>
            <a:srgbClr val="FBF0EC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5A30"/>
                </a:solidFill>
              </a:rPr>
              <a:t>Grad-CAM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• Last convolutional layer (conv3)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• Gradient → channel weights → heatmap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3113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• Upsampled 3×3 → 28×28 (bilinear)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48716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• Letter A: crossbar + diagonal strokes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• Letter E: three horizontal strokes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99923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• Letter Q: distinctive tail stroke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4023360" cy="2011680"/>
          </a:xfrm>
          <a:prstGeom prst="roundRect">
            <a:avLst>
              <a:gd name="adj" fmla="val 5455"/>
            </a:avLst>
          </a:prstGeom>
          <a:solidFill>
            <a:srgbClr val="FAF3E5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280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A7517"/>
                </a:solidFill>
              </a:rPr>
              <a:t>SHAP (DeepExplainer)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171907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• 52 background images (2 per class)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197510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• Pixel-level signed attributions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223113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• Red = increases class probability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248716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• Blue = decreases class probability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74320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• O correct: circular loop highlighted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299923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• O→D wrong: vertical edge highlighted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33756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EBF4E6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41071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D11"/>
                </a:solidFill>
              </a:rPr>
              <a:t>Key Finding — RQ5 Answered 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6758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Both Grad-CAM and SHAP agree that the model focuses on ink stroke regions — not background pixels. The SHAP correct-vs-wrong comparison explains the O→D confusion: attention shifts from the circular loop to the vertical right edge.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LIMITATIONS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</a:rPr>
              <a:t>Study Limitations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AF3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52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🗂️ Single dataset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The model was only tested on the Kaggle A–Z dataset — no external validation on real scanned documents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AF3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52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📝 Capital letters only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Lowercase letters, digits, and non-Latin scripts are not covered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AF3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128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🔍 Low resolution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51460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28×28 pixels is below real-world scanning quality; some confusions may reduce at higher resolution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1488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AF3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2128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🌩️ No robustness testing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51460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Performance under blur, noise, brightness changes, and compression is unknown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AF3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72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🔁 Single training run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No repeated runs or statistical significance tests between the two models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31089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AF3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172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🔎 No hyperparameter search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47472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Values were taken from the literature; a systematic search might improve accuracy further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Summary and Conclusions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0EEF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685800" cy="621792"/>
          </a:xfrm>
          <a:prstGeom prst="roundRect">
            <a:avLst>
              <a:gd name="adj" fmla="val 1176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RQ1 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" y="123444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Custom CNN achieves 99.08% accuracy — compact architecture is sufficient for near-perfect 26-class recognition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0EEF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65960"/>
            <a:ext cx="685800" cy="621792"/>
          </a:xfrm>
          <a:prstGeom prst="roundRect">
            <a:avLst>
              <a:gd name="adj" fmla="val 11765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6596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RQ2 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" y="196596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O→D (64 cases) is the dominant confusion — caused by shared closed-loop stroke structure at 28×28 px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0EEF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97480"/>
            <a:ext cx="685800" cy="621792"/>
          </a:xfrm>
          <a:prstGeom prst="roundRect">
            <a:avLst>
              <a:gd name="adj" fmla="val 1176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9748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RQ3 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" y="269748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Class weighting works — minority class F recall = 0.994, I recall = 0.976 despite 51.6:1 imbalance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0EEF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29000"/>
            <a:ext cx="685800" cy="621792"/>
          </a:xfrm>
          <a:prstGeom prst="roundRect">
            <a:avLst>
              <a:gd name="adj" fmla="val 11765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2900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RQ4 ✗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" y="342900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MobileNetV2 achieves only 19.59% — domain mismatch between ImageNet and grayscale letters prevents transfer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16052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0EEF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160520"/>
            <a:ext cx="685800" cy="621792"/>
          </a:xfrm>
          <a:prstGeom prst="roundRect">
            <a:avLst>
              <a:gd name="adj" fmla="val 11765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16052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RQ5 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" y="416052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Grad-CAM and SHAP both confirm stroke-region attention; SHAP explains the O→D error mechanistically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9E75"/>
                </a:solidFill>
              </a:rPr>
              <a:t>Practical value:  &lt;5 MB model · mobile-deployable · publicly available Kaggle notebook · explainable predictions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D9E75"/>
                </a:solidFill>
              </a:rPr>
              <a:t>Questions Welcome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60604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BE"/>
                </a:solidFill>
              </a:rPr>
              <a:t>📓 Kaggle Notebook:  kaggle.com/code/waiyan172/handwritten-english-alphabet-recognition-using-cnn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3044952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BE"/>
                </a:solidFill>
              </a:rPr>
              <a:t>💾 GitHub Repository:  github.com/Waiyan172/Mechine-Learning-Project-UE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3483864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BE"/>
                </a:solidFill>
              </a:rPr>
              <a:t>📊 Dataset:  kaggle.com/datasets/sachinpatel21/az-handwritten-alphabets-in-csv-format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8A7E"/>
                </a:solidFill>
              </a:rPr>
              <a:t>Wai Yan Tun  ·  University of Europe for Applied Sciences  ·  ML 120A  ·  Prof. Raja Hashim Ali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Handwritten English Alphabet Recognition Using CNN</dc:title>
  <dc:subject>PptxGenJS Presentation</dc:subject>
  <dc:creator>Wai Yan Tun</dc:creator>
  <cp:lastModifiedBy>Wai Yan Tun</cp:lastModifiedBy>
  <cp:revision>1</cp:revision>
  <dcterms:created xsi:type="dcterms:W3CDTF">2026-06-28T14:12:19Z</dcterms:created>
  <dcterms:modified xsi:type="dcterms:W3CDTF">2026-06-28T14:12:19Z</dcterms:modified>
</cp:coreProperties>
</file>